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5" d="100"/>
          <a:sy n="105" d="100"/>
        </p:scale>
        <p:origin x="80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18571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181344" y="0"/>
            <a:ext cx="36576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320040" y="292608"/>
            <a:ext cx="1828800" cy="2743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20040" y="2926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FREE TIER PROJECT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228600" y="76178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000000"/>
                </a:solidFill>
              </a:rPr>
              <a:t>⚡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86384" y="894370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ResumePulse</a:t>
            </a:r>
            <a:endParaRPr lang="en-US" sz="5000" dirty="0"/>
          </a:p>
        </p:txBody>
      </p:sp>
      <p:sp>
        <p:nvSpPr>
          <p:cNvPr id="8" name="Text 6"/>
          <p:cNvSpPr/>
          <p:nvPr/>
        </p:nvSpPr>
        <p:spPr>
          <a:xfrm>
            <a:off x="320040" y="1719072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Resume Analyzer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20040" y="2176272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Microsoft Azure — 100% Free Tier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0040" y="2633472"/>
            <a:ext cx="5577840" cy="3657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20040" y="27432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</a:rPr>
              <a:t>🎬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20040" y="301752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~35 Min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673352" y="27432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</a:rPr>
              <a:t>☁️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673352" y="301752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Services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026664" y="27432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</a:rPr>
              <a:t>💰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026664" y="301752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Free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379976" y="27432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</a:rPr>
              <a:t>🛠️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379976" y="301752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9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0040" y="3456432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Pravin Kshirsagar  |  Azure &amp; .NET Developer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55080" y="5029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Complete Guide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355080" y="868680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Azure Portal Step-by-Step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355080" y="1353312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CLI Commands Explained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355080" y="183794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All 9 Services Explained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355080" y="2322576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Code Walkthrough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355080" y="2807208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Architecture Diagrams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355080" y="3291840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App Service Deep Dive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355080" y="3776472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Deployment Guide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355080" y="426110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Live Demo Script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A0F1E"/>
          </a:solidFill>
          <a:ln w="12700">
            <a:solidFill>
              <a:srgbClr val="0A0F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ResumePulse  •  Azure Free Tier  •  .NET 9  •  Gemini AI  •  Blazor WASM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What Is ResumePulse?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0" y="621792"/>
            <a:ext cx="9144000" cy="457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74320" y="694944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cloud app that scores resumes against job descriptions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8600" y="987552"/>
            <a:ext cx="3977640" cy="3547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28600" y="987552"/>
            <a:ext cx="45720" cy="35478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84048" y="106070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4048" y="1335024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seekers apply without knowing if their resume matches. HR teams screen hundreds of resumes manually. Both sides waste time.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84048" y="199339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84048" y="2267712"/>
            <a:ext cx="3657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ResumePulse uses Google Gemini AI to instantly analyze a resume against a job description — returning a 0-100 score, matched skills, missing skills, and a recommendation: Strong Match / Good Match / Partial Match / Not a Match.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84048" y="320040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F3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Value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84048" y="3474720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job seekers: know exactly which skills to add before applying.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recruiters: auto-rank 500 resumes in seconds — saving hours.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0" y="987552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User Journey — 6 Steps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389120" y="1353312"/>
            <a:ext cx="45262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4389120" y="1353312"/>
            <a:ext cx="347472" cy="43891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389120" y="1353312"/>
            <a:ext cx="3474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791456" y="1444752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email + paste job description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389120" y="1892808"/>
            <a:ext cx="45262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389120" y="1892808"/>
            <a:ext cx="347472" cy="438912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389120" y="1892808"/>
            <a:ext cx="3474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91456" y="1984248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resume PDF file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389120" y="2432304"/>
            <a:ext cx="45262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4389120" y="2432304"/>
            <a:ext cx="347472" cy="438912"/>
          </a:xfrm>
          <a:prstGeom prst="rect">
            <a:avLst/>
          </a:prstGeom>
          <a:solidFill>
            <a:srgbClr val="BF360C"/>
          </a:solidFill>
          <a:ln w="12700">
            <a:solidFill>
              <a:srgbClr val="BF360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389120" y="2432304"/>
            <a:ext cx="3474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791456" y="2523744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'Analyze My Resume'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389120" y="2971800"/>
            <a:ext cx="45262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4389120" y="2971800"/>
            <a:ext cx="347472" cy="438912"/>
          </a:xfrm>
          <a:prstGeom prst="rect">
            <a:avLst/>
          </a:prstGeom>
          <a:solidFill>
            <a:srgbClr val="4527A0"/>
          </a:solidFill>
          <a:ln w="12700">
            <a:solidFill>
              <a:srgbClr val="4527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4389120" y="2971800"/>
            <a:ext cx="3474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791456" y="3063240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~30 seconds (AI processes)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389120" y="3511296"/>
            <a:ext cx="45262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4389120" y="3511296"/>
            <a:ext cx="347472" cy="43891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4389120" y="3511296"/>
            <a:ext cx="3474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791456" y="3602736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score, skills, recommendation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389120" y="4050792"/>
            <a:ext cx="45262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4389120" y="4050792"/>
            <a:ext cx="347472" cy="4389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4389120" y="4050792"/>
            <a:ext cx="3474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4791456" y="4142232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detailed email report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A0F1E"/>
          </a:solidFill>
          <a:ln w="12700">
            <a:solidFill>
              <a:srgbClr val="0A0F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  Architecture Overview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274320" y="640080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 Cloud Architecture — Microsoft Azure Free Tier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91440" y="1005840"/>
            <a:ext cx="1280160" cy="868680"/>
          </a:xfrm>
          <a:prstGeom prst="rect">
            <a:avLst/>
          </a:prstGeom>
          <a:solidFill>
            <a:srgbClr val="1E88E5">
              <a:alpha val="80000"/>
            </a:srgbClr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1440" y="104241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</a:rPr>
              <a:t>🌐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8016" y="1307592"/>
            <a:ext cx="1207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Blazor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WASM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28016" y="1627632"/>
            <a:ext cx="1207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UI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1554480" y="1005840"/>
            <a:ext cx="1280160" cy="868680"/>
          </a:xfrm>
          <a:prstGeom prst="rect">
            <a:avLst/>
          </a:prstGeom>
          <a:solidFill>
            <a:srgbClr val="1565C0">
              <a:alpha val="80000"/>
            </a:srgbClr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1554480" y="104241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</a:rPr>
              <a:t>⚙️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591056" y="1307592"/>
            <a:ext cx="1207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API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591056" y="1627632"/>
            <a:ext cx="1207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Endpoints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3017520" y="1005840"/>
            <a:ext cx="1280160" cy="868680"/>
          </a:xfrm>
          <a:prstGeom prst="rect">
            <a:avLst/>
          </a:prstGeom>
          <a:solidFill>
            <a:srgbClr val="BF360C">
              <a:alpha val="80000"/>
            </a:srgbClr>
          </a:solidFill>
          <a:ln w="12700">
            <a:solidFill>
              <a:srgbClr val="BF360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017520" y="104241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</a:rPr>
              <a:t>🔑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054096" y="1307592"/>
            <a:ext cx="1207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054096" y="1627632"/>
            <a:ext cx="1207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Secrets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4480560" y="1005840"/>
            <a:ext cx="1280160" cy="868680"/>
          </a:xfrm>
          <a:prstGeom prst="rect">
            <a:avLst/>
          </a:prstGeom>
          <a:solidFill>
            <a:srgbClr val="00695C">
              <a:alpha val="80000"/>
            </a:srgbClr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480560" y="104241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</a:rPr>
              <a:t>🗄️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517136" y="1307592"/>
            <a:ext cx="1207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Blob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517136" y="1627632"/>
            <a:ext cx="1207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+ Reports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5943600" y="1005840"/>
            <a:ext cx="1280160" cy="868680"/>
          </a:xfrm>
          <a:prstGeom prst="rect">
            <a:avLst/>
          </a:prstGeom>
          <a:solidFill>
            <a:srgbClr val="4527A0">
              <a:alpha val="80000"/>
            </a:srgbClr>
          </a:solidFill>
          <a:ln w="12700">
            <a:solidFill>
              <a:srgbClr val="4527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943600" y="104241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</a:rPr>
              <a:t>📨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980176" y="1307592"/>
            <a:ext cx="1207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980176" y="1627632"/>
            <a:ext cx="1207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Queue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7406640" y="1005840"/>
            <a:ext cx="1627632" cy="868680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7406640" y="1042416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</a:rPr>
              <a:t>⚡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443216" y="130759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7443216" y="1627632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1389888" y="1399032"/>
            <a:ext cx="146304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1408176" y="1335024"/>
            <a:ext cx="128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59E0B"/>
                </a:solidFill>
              </a:rPr>
              <a:t>▶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2852928" y="1399032"/>
            <a:ext cx="146304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2871216" y="1335024"/>
            <a:ext cx="128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59E0B"/>
                </a:solidFill>
              </a:rPr>
              <a:t>▶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315968" y="1399032"/>
            <a:ext cx="146304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4334256" y="1335024"/>
            <a:ext cx="128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59E0B"/>
                </a:solidFill>
              </a:rPr>
              <a:t>▶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5779008" y="1399032"/>
            <a:ext cx="146304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5797296" y="1335024"/>
            <a:ext cx="128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59E0B"/>
                </a:solidFill>
              </a:rPr>
              <a:t>▶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7242048" y="1399032"/>
            <a:ext cx="146304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7260336" y="1335024"/>
            <a:ext cx="128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59E0B"/>
                </a:solidFill>
              </a:rPr>
              <a:t>▶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91440" y="2084832"/>
            <a:ext cx="1417320" cy="804672"/>
          </a:xfrm>
          <a:prstGeom prst="rect">
            <a:avLst/>
          </a:prstGeom>
          <a:solidFill>
            <a:srgbClr val="4527A0">
              <a:alpha val="75000"/>
            </a:srgbClr>
          </a:solidFill>
          <a:ln w="12700">
            <a:solidFill>
              <a:srgbClr val="4527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91440" y="2121408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🤖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128016" y="2359152"/>
            <a:ext cx="1344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AI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128016" y="2615184"/>
            <a:ext cx="1344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Score+Skills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1691640" y="2084832"/>
            <a:ext cx="1417320" cy="804672"/>
          </a:xfrm>
          <a:prstGeom prst="rect">
            <a:avLst/>
          </a:prstGeom>
          <a:solidFill>
            <a:srgbClr val="1565C0">
              <a:alpha val="75000"/>
            </a:srgbClr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1691640" y="2121408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📡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1728216" y="2359152"/>
            <a:ext cx="1344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Grid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1728216" y="2615184"/>
            <a:ext cx="1344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Routing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3291840" y="2084832"/>
            <a:ext cx="1417320" cy="804672"/>
          </a:xfrm>
          <a:prstGeom prst="rect">
            <a:avLst/>
          </a:prstGeom>
          <a:solidFill>
            <a:srgbClr val="00695C">
              <a:alpha val="75000"/>
            </a:srgbClr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3291840" y="2121408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🔁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3328416" y="2359152"/>
            <a:ext cx="1344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App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3328416" y="2615184"/>
            <a:ext cx="1344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Workflow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4892040" y="2084832"/>
            <a:ext cx="1417320" cy="804672"/>
          </a:xfrm>
          <a:prstGeom prst="rect">
            <a:avLst/>
          </a:prstGeom>
          <a:solidFill>
            <a:srgbClr val="BF360C">
              <a:alpha val="75000"/>
            </a:srgbClr>
          </a:solidFill>
          <a:ln w="12700">
            <a:solidFill>
              <a:srgbClr val="BF360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4892040" y="2121408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📧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4928616" y="2359152"/>
            <a:ext cx="1344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SendGrid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4928616" y="2615184"/>
            <a:ext cx="1344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Delivery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6492240" y="2084832"/>
            <a:ext cx="2542032" cy="804672"/>
          </a:xfrm>
          <a:prstGeom prst="rect">
            <a:avLst/>
          </a:prstGeom>
          <a:solidFill>
            <a:srgbClr val="1E88E5">
              <a:alpha val="75000"/>
            </a:srgbClr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Text 54"/>
          <p:cNvSpPr/>
          <p:nvPr/>
        </p:nvSpPr>
        <p:spPr>
          <a:xfrm>
            <a:off x="6492240" y="2121408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🌍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6528816" y="235915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Web App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6528816" y="261518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Blazor CDN Host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91440" y="3017520"/>
            <a:ext cx="8942832" cy="1682496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Text 58"/>
          <p:cNvSpPr/>
          <p:nvPr/>
        </p:nvSpPr>
        <p:spPr>
          <a:xfrm>
            <a:off x="256032" y="3090672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End-to-End Flow: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256032" y="3346704"/>
            <a:ext cx="8595360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0CAF9"/>
                </a:solidFill>
              </a:rPr>
              <a:t>User uploads resume  →  </a:t>
            </a:r>
            <a:r>
              <a:rPr lang="en-US" sz="900" dirty="0">
                <a:solidFill>
                  <a:srgbClr val="F59E0B"/>
                </a:solidFill>
              </a:rPr>
              <a:t>API stores PDF in Blob Storage  →  </a:t>
            </a:r>
            <a:r>
              <a:rPr lang="en-US" sz="900" dirty="0">
                <a:solidFill>
                  <a:srgbClr val="C4B5FD"/>
                </a:solidFill>
              </a:rPr>
              <a:t>Message queued in Service Bus  →  </a:t>
            </a:r>
            <a:r>
              <a:rPr lang="en-US" sz="900" dirty="0">
                <a:solidFill>
                  <a:srgbClr val="6EE7B7"/>
                </a:solidFill>
              </a:rPr>
              <a:t>Azure Function triggered
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4B5FD"/>
                </a:solidFill>
              </a:rPr>
              <a:t>Gemini AI analyzes resume vs job description  →  </a:t>
            </a:r>
            <a:r>
              <a:rPr lang="en-US" sz="900" dirty="0">
                <a:solidFill>
                  <a:srgbClr val="F59E0B"/>
                </a:solidFill>
              </a:rPr>
              <a:t>Report saved to Blob  →  </a:t>
            </a:r>
            <a:r>
              <a:rPr lang="en-US" sz="900" dirty="0">
                <a:solidFill>
                  <a:srgbClr val="90CAF9"/>
                </a:solidFill>
              </a:rPr>
              <a:t>Event Grid fires  →  </a:t>
            </a:r>
            <a:r>
              <a:rPr lang="en-US" sz="900" dirty="0">
                <a:solidFill>
                  <a:srgbClr val="6EE7B7"/>
                </a:solidFill>
              </a:rPr>
              <a:t>Logic App sends email via SendGrid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  Azure Services Explained — Part 1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0" y="621792"/>
            <a:ext cx="9144000" cy="457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74320" y="694944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Blob Storage, Service Bus, Key Vault, App Service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01168" y="987552"/>
            <a:ext cx="4160520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01168" y="987552"/>
            <a:ext cx="4160520" cy="36576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201168" y="1024128"/>
            <a:ext cx="438912" cy="1865376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201168" y="10424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000000"/>
                </a:solidFill>
              </a:rPr>
              <a:t>🗄️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94944" y="1060704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Blob Storage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94944" y="1371600"/>
            <a:ext cx="3547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Cloud file storage — stores PDFs and JSON report files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94944" y="1700784"/>
            <a:ext cx="3547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Free 5 GB. Cheap, reliable, infinitely scalable. No server needed.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94944" y="2011680"/>
            <a:ext cx="3547872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API uploads resume PDFs to 'resumes' container. Function saves report.json to 'reports' container. Frontend reads reports via API.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36008" y="987552"/>
            <a:ext cx="4160520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4636008" y="987552"/>
            <a:ext cx="4160520" cy="36576"/>
          </a:xfrm>
          <a:prstGeom prst="rect">
            <a:avLst/>
          </a:prstGeom>
          <a:solidFill>
            <a:srgbClr val="4527A0"/>
          </a:solidFill>
          <a:ln w="12700">
            <a:solidFill>
              <a:srgbClr val="4527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4636008" y="1024128"/>
            <a:ext cx="438912" cy="1865376"/>
          </a:xfrm>
          <a:prstGeom prst="rect">
            <a:avLst/>
          </a:prstGeom>
          <a:solidFill>
            <a:srgbClr val="4527A0"/>
          </a:solidFill>
          <a:ln w="12700">
            <a:solidFill>
              <a:srgbClr val="4527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636008" y="10424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000000"/>
                </a:solidFill>
              </a:rPr>
              <a:t>📨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5129784" y="1060704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52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Service Bus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129784" y="1371600"/>
            <a:ext cx="3547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Message queue — jobs wait here until a worker picks them up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129784" y="1700784"/>
            <a:ext cx="3547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Decouples API from AI processing. Messages retry on failure. API returns instantly without waiting.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129784" y="2011680"/>
            <a:ext cx="3547872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API puts {JobId, BlobUrl, Email, JD} message in queue. Azure Function wakes up automatically when message arrives.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01168" y="2999232"/>
            <a:ext cx="4160520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201168" y="2999232"/>
            <a:ext cx="4160520" cy="36576"/>
          </a:xfrm>
          <a:prstGeom prst="rect">
            <a:avLst/>
          </a:prstGeom>
          <a:solidFill>
            <a:srgbClr val="BF360C"/>
          </a:solidFill>
          <a:ln w="12700">
            <a:solidFill>
              <a:srgbClr val="BF360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201168" y="3035808"/>
            <a:ext cx="438912" cy="1865376"/>
          </a:xfrm>
          <a:prstGeom prst="rect">
            <a:avLst/>
          </a:prstGeom>
          <a:solidFill>
            <a:srgbClr val="BF360C"/>
          </a:solidFill>
          <a:ln w="12700">
            <a:solidFill>
              <a:srgbClr val="BF360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201168" y="305409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000000"/>
                </a:solidFill>
              </a:rPr>
              <a:t>🔑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694944" y="3072384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F3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Key Vault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94944" y="3383280"/>
            <a:ext cx="3547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Digital safe in the cloud — stores API keys, passwords, connection strings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94944" y="3712464"/>
            <a:ext cx="3547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Never hardcode secrets. Free 10,000 operations/month. Full audit log of who accessed what.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94944" y="4023360"/>
            <a:ext cx="3547872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Stores: StorageConnectionString, ServiceBusConnectionString, GeminiApiKey, EventGridTopicKey. Apps read via Managed Identity.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636008" y="2999232"/>
            <a:ext cx="4160520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4636008" y="2999232"/>
            <a:ext cx="4160520" cy="3657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4636008" y="3035808"/>
            <a:ext cx="438912" cy="186537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4636008" y="305409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000000"/>
                </a:solidFill>
              </a:rPr>
              <a:t>🌐</a:t>
            </a:r>
            <a:endParaRPr lang="en-US" sz="1900" dirty="0"/>
          </a:p>
        </p:txBody>
      </p:sp>
      <p:sp>
        <p:nvSpPr>
          <p:cNvPr id="34" name="Text 32"/>
          <p:cNvSpPr/>
          <p:nvPr/>
        </p:nvSpPr>
        <p:spPr>
          <a:xfrm>
            <a:off x="5129784" y="3072384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App Service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129784" y="3383280"/>
            <a:ext cx="3547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Fully managed platform for hosting web applications — no server management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129784" y="3712464"/>
            <a:ext cx="3547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F1 Free Plan: 1 app, 1 GB RAM, zero cost. Azure handles OS updates, patching, HTTPS automatically.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129784" y="4023360"/>
            <a:ext cx="3547872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Our ASP.NET Core API is deployed here. Gets a public URL: app-name.azurewebsites.net. Connects to Key Vault via Managed Identity.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F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  Azure Services Explained — Part 2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0" y="621792"/>
            <a:ext cx="9144000" cy="4572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74320" y="694944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Service Plan, Functions, Event Grid, Logic Apps, Static Web Apps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64592" y="987552"/>
            <a:ext cx="2816352" cy="17922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164592" y="987552"/>
            <a:ext cx="2816352" cy="36576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56032" y="1060704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App Service Plan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56032" y="1389888"/>
            <a:ext cx="2633472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56032" y="1463040"/>
            <a:ext cx="2633472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The underlying SERVER that App Service runs on — defines CPU, RAM, and pricing tier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56032" y="1847088"/>
            <a:ext cx="2633472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F1 Free Plan = zero cost forever for dev/demo. One Plan can host multiple App Services.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56032" y="2231136"/>
            <a:ext cx="2633472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We create asp-resumepulse-pk on Free F1. Our API App Service is attached to this plan and inherits its compute resources.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127248" y="987552"/>
            <a:ext cx="2816352" cy="17922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3127248" y="987552"/>
            <a:ext cx="2816352" cy="36576"/>
          </a:xfrm>
          <a:prstGeom prst="rect">
            <a:avLst/>
          </a:prstGeom>
          <a:solidFill>
            <a:srgbClr val="4527A0"/>
          </a:solidFill>
          <a:ln w="12700">
            <a:solidFill>
              <a:srgbClr val="4527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218688" y="1060704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52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Azure Functions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18688" y="1389888"/>
            <a:ext cx="2633472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218688" y="1463040"/>
            <a:ext cx="2633472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Serverless compute — write a function, Azure runs it on-demand. No idle cost.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218688" y="1847088"/>
            <a:ext cx="2633472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1 million free executions/month. Auto-scales. Perfect for background processing triggered by events.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218688" y="2231136"/>
            <a:ext cx="2633472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ResumeAnalysisFunction has [ServiceBusTrigger] — wakes automatically when queue message arrives. Processes resume, calls Gemini AI.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089904" y="987552"/>
            <a:ext cx="2852928" cy="17922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6089904" y="987552"/>
            <a:ext cx="2852928" cy="36576"/>
          </a:xfrm>
          <a:prstGeom prst="rect">
            <a:avLst/>
          </a:prstGeom>
          <a:solidFill>
            <a:srgbClr val="BF360C"/>
          </a:solidFill>
          <a:ln w="12700">
            <a:solidFill>
              <a:srgbClr val="BF360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181344" y="1060704"/>
            <a:ext cx="267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F3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 Azure Event Grid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181344" y="1389888"/>
            <a:ext cx="2670048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6181344" y="1463040"/>
            <a:ext cx="267004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Fully managed event routing — connects event publishers to event subscribers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181344" y="1847088"/>
            <a:ext cx="267004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Loosely couples services. First 100K operations free/month. No polling needed.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181344" y="2231136"/>
            <a:ext cx="2670048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Function publishes 'ResumeAnalysisCompleted' event. Event Grid routes it to Logic App subscription. Zero direct coupling.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64592" y="2926080"/>
            <a:ext cx="4279392" cy="17922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164592" y="2926080"/>
            <a:ext cx="4279392" cy="3657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256032" y="2999232"/>
            <a:ext cx="4096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Logic Apps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56032" y="3328416"/>
            <a:ext cx="4096512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256032" y="3401568"/>
            <a:ext cx="4096512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No-code workflow automation with 400+ built-in service connectors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56032" y="3785616"/>
            <a:ext cx="4096512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Email automation without writing SMTP/email code. Consumption plan: first 4000 actions free/month.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56032" y="4169664"/>
            <a:ext cx="4096512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Event Grid triggers Logic App. It parses event data (score, email, skills) and sends formatted result email via SendGrid.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645152" y="2926080"/>
            <a:ext cx="4297680" cy="17922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4645152" y="2926080"/>
            <a:ext cx="4297680" cy="36576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4736592" y="299923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Static Web Apps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736592" y="3328416"/>
            <a:ext cx="41148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4736592" y="340156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Free CDN hosting specifically designed for static frontend files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736592" y="3785616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100% free forever. Global CDN for fast load times. HTTPS and custom domains included.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736592" y="4169664"/>
            <a:ext cx="411480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Blazor WASM compiles to static files. We deploy the wwwroot folder here. Users get fast load from nearest CDN edge location.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Azure App Service — Deep Dive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0" y="621792"/>
            <a:ext cx="9144000" cy="457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74320" y="694944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App Service, App Service Plan, Managed Identity, and Environment Variables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01168" y="969264"/>
            <a:ext cx="8741664" cy="658368"/>
          </a:xfrm>
          <a:prstGeom prst="rect">
            <a:avLst/>
          </a:prstGeom>
          <a:solidFill>
            <a:srgbClr val="DBEAFE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47472" y="1005840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App Service Plan  vs  App Service — What Is The Difference?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47472" y="12801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Service Plan = The SERVER (like renting a virtual machine — defines CPU, RAM, OS, pricing tier)  |  App Service = Your APPLICATION hosted on that server  |  One Plan → Many Apps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01168" y="175564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Pricing Tiers: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01168" y="2048256"/>
            <a:ext cx="2057400" cy="877824"/>
          </a:xfrm>
          <a:prstGeom prst="rect">
            <a:avLst/>
          </a:prstGeom>
          <a:solidFill>
            <a:srgbClr val="DCFCE7"/>
          </a:solidFill>
          <a:ln w="12700">
            <a:solidFill>
              <a:srgbClr val="00695C"/>
            </a:solidFill>
            <a:prstDash val="solid"/>
          </a:ln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74320" y="210312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Free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74320" y="235915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GB RAM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74320" y="256032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Free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74320" y="270662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Dev/Demo ✅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377440" y="2048256"/>
            <a:ext cx="2057400" cy="877824"/>
          </a:xfrm>
          <a:prstGeom prst="rect">
            <a:avLst/>
          </a:prstGeom>
          <a:solidFill>
            <a:srgbClr val="F1F5F9"/>
          </a:solidFill>
          <a:ln w="12700">
            <a:solidFill>
              <a:srgbClr val="CCCCCC"/>
            </a:solidFill>
            <a:prstDash val="solid"/>
          </a:ln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2450592" y="210312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 Basic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450592" y="235915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1.75 GB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450592" y="256032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~$13/mo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450592" y="270662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apps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53712" y="2048256"/>
            <a:ext cx="2057400" cy="877824"/>
          </a:xfrm>
          <a:prstGeom prst="rect">
            <a:avLst/>
          </a:prstGeom>
          <a:solidFill>
            <a:srgbClr val="F1F5F9"/>
          </a:solidFill>
          <a:ln w="12700">
            <a:solidFill>
              <a:srgbClr val="CCCCCC"/>
            </a:solidFill>
            <a:prstDash val="solid"/>
          </a:ln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626864" y="210312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Standard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626864" y="235915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1.75 GB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626864" y="256032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~$73/mo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626864" y="270662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729984" y="2048256"/>
            <a:ext cx="2057400" cy="877824"/>
          </a:xfrm>
          <a:prstGeom prst="rect">
            <a:avLst/>
          </a:prstGeom>
          <a:solidFill>
            <a:srgbClr val="F1F5F9"/>
          </a:solidFill>
          <a:ln w="12700">
            <a:solidFill>
              <a:srgbClr val="CCCCCC"/>
            </a:solidFill>
            <a:prstDash val="solid"/>
          </a:ln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803136" y="210312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P1v3 Premium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803136" y="235915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GB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803136" y="256032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~$147/mo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803136" y="270662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traffic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01168" y="3054096"/>
            <a:ext cx="8741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Key App Service Features We Use: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01168" y="3346704"/>
            <a:ext cx="4206240" cy="676656"/>
          </a:xfrm>
          <a:prstGeom prst="rect">
            <a:avLst/>
          </a:prstGeom>
          <a:solidFill>
            <a:srgbClr val="DBEAFE"/>
          </a:solidFill>
          <a:ln w="12700">
            <a:solidFill>
              <a:srgbClr val="1565C0"/>
            </a:solidFill>
            <a:prstDash val="solid"/>
          </a:ln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10896" y="3401568"/>
            <a:ext cx="3986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Variables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10896" y="3657600"/>
            <a:ext cx="3986784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non-secret config: KeyVault__Url, container names, etc. Set via Portal → Configuration → App settings or CLI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636008" y="3346704"/>
            <a:ext cx="4206240" cy="676656"/>
          </a:xfrm>
          <a:prstGeom prst="rect">
            <a:avLst/>
          </a:prstGeom>
          <a:solidFill>
            <a:srgbClr val="CCFBF1"/>
          </a:solidFill>
          <a:ln w="12700">
            <a:solidFill>
              <a:srgbClr val="00695C"/>
            </a:solidFill>
            <a:prstDash val="solid"/>
          </a:ln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4745736" y="3401568"/>
            <a:ext cx="3986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Identity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745736" y="3657600"/>
            <a:ext cx="3986784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the App Service a passwordless Azure AD identity. Used to access Key Vault without storing any credentials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01168" y="4114800"/>
            <a:ext cx="4206240" cy="676656"/>
          </a:xfrm>
          <a:prstGeom prst="rect">
            <a:avLst/>
          </a:prstGeom>
          <a:solidFill>
            <a:srgbClr val="FEF3C7"/>
          </a:solidFill>
          <a:ln w="12700">
            <a:solidFill>
              <a:srgbClr val="BF360C"/>
            </a:solidFill>
            <a:prstDash val="solid"/>
          </a:ln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310896" y="4169664"/>
            <a:ext cx="3986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F3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Always-On (F1: OFF)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310896" y="4425696"/>
            <a:ext cx="3986784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F1 plan apps go to sleep after inactivity. First request wakes them (cold start ~5s). B1+ has Always-On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36008" y="4114800"/>
            <a:ext cx="4206240" cy="676656"/>
          </a:xfrm>
          <a:prstGeom prst="rect">
            <a:avLst/>
          </a:prstGeom>
          <a:solidFill>
            <a:srgbClr val="EDE9FE"/>
          </a:solidFill>
          <a:ln w="12700">
            <a:solidFill>
              <a:srgbClr val="4527A0"/>
            </a:solidFill>
            <a:prstDash val="solid"/>
          </a:ln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4745736" y="4169664"/>
            <a:ext cx="3986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52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Slots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745736" y="4425696"/>
            <a:ext cx="3986784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Blue-green deployments — deploy to 'staging' slot, test, then swap to production with zero downtime (Standard+)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 Azure Portal Setup — Resource Group &amp; Storage Account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0" y="621792"/>
            <a:ext cx="9144000" cy="45720"/>
          </a:xfrm>
          <a:prstGeom prst="rect">
            <a:avLst/>
          </a:prstGeom>
          <a:solidFill>
            <a:srgbClr val="BF360C"/>
          </a:solidFill>
          <a:ln w="12700">
            <a:solidFill>
              <a:srgbClr val="BF360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74320" y="694944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portal.azure.com — Step-by-step for beginners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01168" y="969264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STEP 1: Create Resource Group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01168" y="1261872"/>
            <a:ext cx="310896" cy="310896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01168" y="12618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85216" y="1298448"/>
            <a:ext cx="3758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portal.azure.com → Search 'Resource Groups'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01168" y="1737360"/>
            <a:ext cx="310896" cy="310896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01168" y="17373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85216" y="1773936"/>
            <a:ext cx="3758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blue '+ Create' button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01168" y="2212848"/>
            <a:ext cx="310896" cy="310896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201168" y="22128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85216" y="2249424"/>
            <a:ext cx="3758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Subscription: Select your free subscription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01168" y="2688336"/>
            <a:ext cx="310896" cy="310896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201168" y="26883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85216" y="2724912"/>
            <a:ext cx="3758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group name: rg-resumepulse-pk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01168" y="3163824"/>
            <a:ext cx="310896" cy="310896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201168" y="3163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5216" y="3200400"/>
            <a:ext cx="3758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Region: East US → Click 'Review + Create'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01168" y="3639312"/>
            <a:ext cx="310896" cy="310896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201168" y="36393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85216" y="3675888"/>
            <a:ext cx="3758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'Create' → Wait 10 seconds → Done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26280" y="969264"/>
            <a:ext cx="36576" cy="41330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663440" y="969264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STEP 2: Create Storage Account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663440" y="1261872"/>
            <a:ext cx="310896" cy="31089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4663440" y="12618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047488" y="1298448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'Storage accounts' → Click '+ Create'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63440" y="1664208"/>
            <a:ext cx="310896" cy="31089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663440" y="16642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047488" y="1700784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 stresumepulsepk (lowercase, no dashes, unique)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663440" y="2066544"/>
            <a:ext cx="310896" cy="31089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4663440" y="20665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047488" y="2103120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Group: rg-resumepulse-pk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663440" y="2468880"/>
            <a:ext cx="310896" cy="31089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4663440" y="24688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047488" y="2505456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Region: East US  |  Redundancy: LRS (cheapest)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663440" y="2871216"/>
            <a:ext cx="310896" cy="31089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4663440" y="28712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047488" y="2907792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'Review + Create' → 'Create'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663440" y="3273552"/>
            <a:ext cx="310896" cy="31089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4663440" y="32735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047488" y="3310128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storage → Containers → '+ Container'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663440" y="3675888"/>
            <a:ext cx="310896" cy="31089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4663440" y="36758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5047488" y="3712464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Create: resumes  (Access level: Private)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663440" y="4078224"/>
            <a:ext cx="310896" cy="31089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4663440" y="40782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5047488" y="4114800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Create: reports  (Access level: Private)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201168" y="4562423"/>
            <a:ext cx="8741664" cy="384048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310896" y="4576934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9D3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az storage account create --name stresumepulsepk --resource-group rg-resumepulse-pk --sku Standard_LRS --location eastus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Azure Key Vault — Create &amp; Add All Secrets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0" y="621792"/>
            <a:ext cx="9144000" cy="45720"/>
          </a:xfrm>
          <a:prstGeom prst="rect">
            <a:avLst/>
          </a:prstGeom>
          <a:solidFill>
            <a:srgbClr val="BF360C"/>
          </a:solidFill>
          <a:ln w="12700">
            <a:solidFill>
              <a:srgbClr val="BF360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74320" y="694944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critical security step — zero secrets in code!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01168" y="969264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F3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STEP 3: Create Key Vault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01168" y="1261872"/>
            <a:ext cx="310896" cy="310896"/>
          </a:xfrm>
          <a:prstGeom prst="rect">
            <a:avLst/>
          </a:prstGeom>
          <a:solidFill>
            <a:srgbClr val="BF360C"/>
          </a:solidFill>
          <a:ln w="12700">
            <a:solidFill>
              <a:srgbClr val="BF360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01168" y="12618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85216" y="1298448"/>
            <a:ext cx="3758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'Key vaults' → '+ Create'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01168" y="1664208"/>
            <a:ext cx="310896" cy="310896"/>
          </a:xfrm>
          <a:prstGeom prst="rect">
            <a:avLst/>
          </a:prstGeom>
          <a:solidFill>
            <a:srgbClr val="BF360C"/>
          </a:solidFill>
          <a:ln w="12700">
            <a:solidFill>
              <a:srgbClr val="BF360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01168" y="16642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85216" y="1700784"/>
            <a:ext cx="3758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 kv-resumepulse-pk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01168" y="2066544"/>
            <a:ext cx="310896" cy="310896"/>
          </a:xfrm>
          <a:prstGeom prst="rect">
            <a:avLst/>
          </a:prstGeom>
          <a:solidFill>
            <a:srgbClr val="BF360C"/>
          </a:solidFill>
          <a:ln w="12700">
            <a:solidFill>
              <a:srgbClr val="BF360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201168" y="20665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85216" y="2103120"/>
            <a:ext cx="3758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Region: East US  |  Pricing: Standard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01168" y="2468880"/>
            <a:ext cx="310896" cy="310896"/>
          </a:xfrm>
          <a:prstGeom prst="rect">
            <a:avLst/>
          </a:prstGeom>
          <a:solidFill>
            <a:srgbClr val="BF360C"/>
          </a:solidFill>
          <a:ln w="12700">
            <a:solidFill>
              <a:srgbClr val="BF360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201168" y="24688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85216" y="2505456"/>
            <a:ext cx="3758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config tab → Azure RBAC (recommended)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01168" y="2871216"/>
            <a:ext cx="310896" cy="310896"/>
          </a:xfrm>
          <a:prstGeom prst="rect">
            <a:avLst/>
          </a:prstGeom>
          <a:solidFill>
            <a:srgbClr val="BF360C"/>
          </a:solidFill>
          <a:ln w="12700">
            <a:solidFill>
              <a:srgbClr val="BF360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201168" y="28712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5216" y="2907792"/>
            <a:ext cx="3758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'Review + Create' → 'Create'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01168" y="3273552"/>
            <a:ext cx="310896" cy="310896"/>
          </a:xfrm>
          <a:prstGeom prst="rect">
            <a:avLst/>
          </a:prstGeom>
          <a:solidFill>
            <a:srgbClr val="BF360C"/>
          </a:solidFill>
          <a:ln w="12700">
            <a:solidFill>
              <a:srgbClr val="BF360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201168" y="32735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85216" y="3310128"/>
            <a:ext cx="3758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creation: Access control (IAM) → Add role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01168" y="3675888"/>
            <a:ext cx="310896" cy="310896"/>
          </a:xfrm>
          <a:prstGeom prst="rect">
            <a:avLst/>
          </a:prstGeom>
          <a:solidFill>
            <a:srgbClr val="BF360C"/>
          </a:solidFill>
          <a:ln w="12700">
            <a:solidFill>
              <a:srgbClr val="BF360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201168" y="36758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85216" y="3712464"/>
            <a:ext cx="3758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Role: 'Key Vault Administrator' → Select yourself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01168" y="4078224"/>
            <a:ext cx="310896" cy="310896"/>
          </a:xfrm>
          <a:prstGeom prst="rect">
            <a:avLst/>
          </a:prstGeom>
          <a:solidFill>
            <a:srgbClr val="BF360C"/>
          </a:solidFill>
          <a:ln w="12700">
            <a:solidFill>
              <a:srgbClr val="BF360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201168" y="40782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85216" y="4114800"/>
            <a:ext cx="3758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'Review + assign' — gives you full access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26280" y="969264"/>
            <a:ext cx="36576" cy="41330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4663440" y="969264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STEP 3B: Add These 4 Secrets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663440" y="1261872"/>
            <a:ext cx="4297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Vault → Secrets → '+ Generate/Import' for each: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663440" y="1536192"/>
            <a:ext cx="4297680" cy="566928"/>
          </a:xfrm>
          <a:prstGeom prst="rect">
            <a:avLst/>
          </a:prstGeom>
          <a:solidFill>
            <a:srgbClr val="FFF7ED"/>
          </a:solidFill>
          <a:ln w="12700">
            <a:solidFill>
              <a:srgbClr val="BF360C"/>
            </a:solidFill>
            <a:prstDash val="solid"/>
          </a:ln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4773168" y="1581912"/>
            <a:ext cx="4078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F36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StorageConnectionString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773168" y="1837944"/>
            <a:ext cx="40782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Source: Storage Account → Access Keys → Copy Connection String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663440" y="2212848"/>
            <a:ext cx="4297680" cy="566928"/>
          </a:xfrm>
          <a:prstGeom prst="rect">
            <a:avLst/>
          </a:prstGeom>
          <a:solidFill>
            <a:srgbClr val="FFF7ED"/>
          </a:solidFill>
          <a:ln w="12700">
            <a:solidFill>
              <a:srgbClr val="BF360C"/>
            </a:solidFill>
            <a:prstDash val="solid"/>
          </a:ln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4773168" y="2258568"/>
            <a:ext cx="4078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F36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ServiceBusConnectionString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773168" y="2514600"/>
            <a:ext cx="40782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Source: Service Bus Namespace → Shared Access Policies → Primary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63440" y="2889504"/>
            <a:ext cx="4297680" cy="566928"/>
          </a:xfrm>
          <a:prstGeom prst="rect">
            <a:avLst/>
          </a:prstGeom>
          <a:solidFill>
            <a:srgbClr val="FFF7ED"/>
          </a:solidFill>
          <a:ln w="12700">
            <a:solidFill>
              <a:srgbClr val="BF360C"/>
            </a:solidFill>
            <a:prstDash val="solid"/>
          </a:ln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4773168" y="2935224"/>
            <a:ext cx="4078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F36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GeminiApiKey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773168" y="3191256"/>
            <a:ext cx="40782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Source: aistudio.google.com → Get API Key → Create new key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663440" y="3566160"/>
            <a:ext cx="4297680" cy="566928"/>
          </a:xfrm>
          <a:prstGeom prst="rect">
            <a:avLst/>
          </a:prstGeom>
          <a:solidFill>
            <a:srgbClr val="FFF7ED"/>
          </a:solidFill>
          <a:ln w="12700">
            <a:solidFill>
              <a:srgbClr val="BF360C"/>
            </a:solidFill>
            <a:prstDash val="solid"/>
          </a:ln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4773168" y="3611880"/>
            <a:ext cx="4078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F36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EventGridTopicKey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4773168" y="3867912"/>
            <a:ext cx="40782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Source: Event Grid Topic → Access Keys → Copy Key 1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10314" y="4626864"/>
            <a:ext cx="8741664" cy="384048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274320" y="4617575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9D3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az keyvault secret set --vault-name kv-resumepulse-pk --name GeminiApiKey --value "YOUR_KEY"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App Service Plan + App Service — Portal Setup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0" y="621792"/>
            <a:ext cx="9144000" cy="457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74320" y="694944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compute resources for the API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01168" y="969264"/>
            <a:ext cx="8741664" cy="512064"/>
          </a:xfrm>
          <a:prstGeom prst="rect">
            <a:avLst/>
          </a:prstGeom>
          <a:solidFill>
            <a:srgbClr val="DBEAFE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47472" y="1042416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Remember: App Service Plan = the SERVER  |  App Service = your APPLICATION  |  Free F1 Plan = zero cost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01168" y="1572768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STEP 5A: Create App Service Plan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01168" y="1865376"/>
            <a:ext cx="310896" cy="310896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01168" y="18653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85216" y="1901952"/>
            <a:ext cx="3758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'App Service plans' → '+ Create'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01168" y="2304288"/>
            <a:ext cx="310896" cy="310896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201168" y="23042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85216" y="2340864"/>
            <a:ext cx="3758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 asp-resumepulse-pk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01168" y="2743200"/>
            <a:ext cx="310896" cy="310896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201168" y="27432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85216" y="2779776"/>
            <a:ext cx="3758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OS: Linux  |  Region: Central India or East US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01168" y="3182112"/>
            <a:ext cx="310896" cy="310896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201168" y="31821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85216" y="3218688"/>
            <a:ext cx="3758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plan: Click 'Explore pricing plans'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01168" y="3621024"/>
            <a:ext cx="310896" cy="310896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201168" y="36210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5216" y="3657600"/>
            <a:ext cx="3758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Dev/Test tab → F1 Free → Apply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01168" y="4059936"/>
            <a:ext cx="310896" cy="310896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201168" y="40599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85216" y="4096512"/>
            <a:ext cx="3758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'Review + Create' → 'Create'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26280" y="1572768"/>
            <a:ext cx="36576" cy="305409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4663440" y="157276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STEP 5B: Create App Service (API Host)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663440" y="1865376"/>
            <a:ext cx="310896" cy="31089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4663440" y="18653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047488" y="1901952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'App Services' → '+ Create' → Web App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663440" y="2249424"/>
            <a:ext cx="310896" cy="31089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4663440" y="22494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047488" y="2286000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 app-resumepulse-pk (globally unique)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663440" y="2633472"/>
            <a:ext cx="310896" cy="31089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4663440" y="26334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047488" y="2670048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stack: .NET 9 (LTS)  |  OS: Linux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663440" y="3017520"/>
            <a:ext cx="310896" cy="31089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4663440" y="3017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047488" y="3054096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plan: asp-resumepulse-pk (Free F1)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663440" y="3401568"/>
            <a:ext cx="310896" cy="31089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4663440" y="34015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047488" y="3438144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creation: Settings → Environment variables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663440" y="3785616"/>
            <a:ext cx="310896" cy="31089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4663440" y="37856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5047488" y="3822192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Add: KeyVault__Url = https://kv-resumepulse-pk.vault.azure.net/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663440" y="4169664"/>
            <a:ext cx="310896" cy="31089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4663440" y="41696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5047488" y="4206240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→ System assigned → Toggle ON → Save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663440" y="4553712"/>
            <a:ext cx="310896" cy="31089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4663440" y="45537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5047488" y="4590288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the Object ID shown — needed for next step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F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Function App, Event Grid &amp; Logic App Setup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0" y="621792"/>
            <a:ext cx="9144000" cy="4572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74320" y="694944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compute + event routing + email automation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64592" y="969264"/>
            <a:ext cx="2816352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164592" y="969264"/>
            <a:ext cx="2816352" cy="36576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56032" y="1042416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Function App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56032" y="1389888"/>
            <a:ext cx="256032" cy="256032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56032" y="13898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66928" y="1408176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App → '+ Create'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56032" y="1810512"/>
            <a:ext cx="256032" cy="256032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256032" y="18105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66928" y="1828800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 func-resumepulse-pk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56032" y="2231136"/>
            <a:ext cx="256032" cy="256032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256032" y="22311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66928" y="2249424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Runtime: .NET 9 Isolated | Linux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56032" y="2651760"/>
            <a:ext cx="256032" cy="256032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256032" y="26517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66928" y="2670048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Hosting: Consumption (Serverless FREE)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56032" y="3072384"/>
            <a:ext cx="256032" cy="256032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256032" y="30723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66928" y="3090672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Storage: stresumepulsepk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56032" y="3493008"/>
            <a:ext cx="256032" cy="256032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256032" y="34930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66928" y="3511296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Identity: System assigned → ON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56032" y="3913632"/>
            <a:ext cx="256032" cy="256032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256032" y="39136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66928" y="3931920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variables → add all settings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56032" y="4334256"/>
            <a:ext cx="256032" cy="256032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256032" y="43342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66928" y="4352544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Key Vault Secrets User role to identity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127248" y="969264"/>
            <a:ext cx="2816352" cy="3584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3127248" y="969264"/>
            <a:ext cx="2816352" cy="36576"/>
          </a:xfrm>
          <a:prstGeom prst="rect">
            <a:avLst/>
          </a:prstGeom>
          <a:solidFill>
            <a:srgbClr val="BF360C"/>
          </a:solidFill>
          <a:ln w="12700">
            <a:solidFill>
              <a:srgbClr val="BF360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3218688" y="1042416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F3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Event Grid Topic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218688" y="1389888"/>
            <a:ext cx="256032" cy="256032"/>
          </a:xfrm>
          <a:prstGeom prst="rect">
            <a:avLst/>
          </a:prstGeom>
          <a:solidFill>
            <a:srgbClr val="BF360C"/>
          </a:solidFill>
          <a:ln w="12700">
            <a:solidFill>
              <a:srgbClr val="BF360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3218688" y="13898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529584" y="1408176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'Event Grid Topics' → '+ Create'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218688" y="1810512"/>
            <a:ext cx="256032" cy="256032"/>
          </a:xfrm>
          <a:prstGeom prst="rect">
            <a:avLst/>
          </a:prstGeom>
          <a:solidFill>
            <a:srgbClr val="BF360C"/>
          </a:solidFill>
          <a:ln w="12700">
            <a:solidFill>
              <a:srgbClr val="BF360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3218688" y="18105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529584" y="1828800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 egt-resumepulse-pk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218688" y="2231136"/>
            <a:ext cx="256032" cy="256032"/>
          </a:xfrm>
          <a:prstGeom prst="rect">
            <a:avLst/>
          </a:prstGeom>
          <a:solidFill>
            <a:srgbClr val="BF360C"/>
          </a:solidFill>
          <a:ln w="12700">
            <a:solidFill>
              <a:srgbClr val="BF360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3218688" y="22311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529584" y="2249424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Location: East US | Schema: Event Grid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218688" y="2651760"/>
            <a:ext cx="256032" cy="256032"/>
          </a:xfrm>
          <a:prstGeom prst="rect">
            <a:avLst/>
          </a:prstGeom>
          <a:solidFill>
            <a:srgbClr val="BF360C"/>
          </a:solidFill>
          <a:ln w="12700">
            <a:solidFill>
              <a:srgbClr val="BF360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3218688" y="26517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3529584" y="2670048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'Review + Create' → 'Create'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218688" y="3072384"/>
            <a:ext cx="256032" cy="256032"/>
          </a:xfrm>
          <a:prstGeom prst="rect">
            <a:avLst/>
          </a:prstGeom>
          <a:solidFill>
            <a:srgbClr val="BF360C"/>
          </a:solidFill>
          <a:ln w="12700">
            <a:solidFill>
              <a:srgbClr val="BF360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3218688" y="30723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3529584" y="3090672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keys → Copy Key 1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218688" y="3493008"/>
            <a:ext cx="256032" cy="256032"/>
          </a:xfrm>
          <a:prstGeom prst="rect">
            <a:avLst/>
          </a:prstGeom>
          <a:solidFill>
            <a:srgbClr val="BF360C"/>
          </a:solidFill>
          <a:ln w="12700">
            <a:solidFill>
              <a:srgbClr val="BF360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3218688" y="34930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3529584" y="3511296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the Topic endpoint URL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218688" y="3913632"/>
            <a:ext cx="256032" cy="256032"/>
          </a:xfrm>
          <a:prstGeom prst="rect">
            <a:avLst/>
          </a:prstGeom>
          <a:solidFill>
            <a:srgbClr val="BF360C"/>
          </a:solidFill>
          <a:ln w="12700">
            <a:solidFill>
              <a:srgbClr val="BF360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3218688" y="39136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3529584" y="3931920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Key + Endpoint to Key Vault as secrets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6089904" y="715268"/>
            <a:ext cx="2852928" cy="438244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8" name="Shape 56"/>
          <p:cNvSpPr/>
          <p:nvPr/>
        </p:nvSpPr>
        <p:spPr>
          <a:xfrm>
            <a:off x="6089904" y="715269"/>
            <a:ext cx="2852928" cy="36576"/>
          </a:xfrm>
          <a:prstGeom prst="rect">
            <a:avLst/>
          </a:prstGeom>
          <a:solidFill>
            <a:srgbClr val="4527A0"/>
          </a:solidFill>
          <a:ln w="12700">
            <a:solidFill>
              <a:srgbClr val="4527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6181344" y="788421"/>
            <a:ext cx="267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52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Logic App + SendGrid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6181344" y="1135893"/>
            <a:ext cx="256032" cy="256032"/>
          </a:xfrm>
          <a:prstGeom prst="rect">
            <a:avLst/>
          </a:prstGeom>
          <a:solidFill>
            <a:srgbClr val="4527A0"/>
          </a:solidFill>
          <a:ln w="12700">
            <a:solidFill>
              <a:srgbClr val="4527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Text 59"/>
          <p:cNvSpPr/>
          <p:nvPr/>
        </p:nvSpPr>
        <p:spPr>
          <a:xfrm>
            <a:off x="6181344" y="113589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6492240" y="1154181"/>
            <a:ext cx="2359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'Logic Apps' → '+ Create' → Consumption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6181344" y="1512975"/>
            <a:ext cx="256032" cy="256032"/>
          </a:xfrm>
          <a:prstGeom prst="rect">
            <a:avLst/>
          </a:prstGeom>
          <a:solidFill>
            <a:srgbClr val="4527A0"/>
          </a:solidFill>
          <a:ln w="12700">
            <a:solidFill>
              <a:srgbClr val="4527A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64" name="Text 62"/>
          <p:cNvSpPr/>
          <p:nvPr/>
        </p:nvSpPr>
        <p:spPr>
          <a:xfrm>
            <a:off x="6181344" y="151297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6492240" y="1531263"/>
            <a:ext cx="2359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 logic-resumepulse-pk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181344" y="1868286"/>
            <a:ext cx="256032" cy="256032"/>
          </a:xfrm>
          <a:prstGeom prst="rect">
            <a:avLst/>
          </a:prstGeom>
          <a:solidFill>
            <a:srgbClr val="4527A0"/>
          </a:solidFill>
          <a:ln w="12700">
            <a:solidFill>
              <a:srgbClr val="4527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Text 65"/>
          <p:cNvSpPr/>
          <p:nvPr/>
        </p:nvSpPr>
        <p:spPr>
          <a:xfrm>
            <a:off x="6181344" y="186828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6492240" y="1886574"/>
            <a:ext cx="2359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app designer → Add trigger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6181344" y="2288910"/>
            <a:ext cx="256032" cy="256032"/>
          </a:xfrm>
          <a:prstGeom prst="rect">
            <a:avLst/>
          </a:prstGeom>
          <a:solidFill>
            <a:srgbClr val="4527A0"/>
          </a:solidFill>
          <a:ln w="12700">
            <a:solidFill>
              <a:srgbClr val="4527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" name="Text 68"/>
          <p:cNvSpPr/>
          <p:nvPr/>
        </p:nvSpPr>
        <p:spPr>
          <a:xfrm>
            <a:off x="6181344" y="228891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6492240" y="2307198"/>
            <a:ext cx="2359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'Event Grid' → When resource event occurs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6181344" y="2709534"/>
            <a:ext cx="256032" cy="256032"/>
          </a:xfrm>
          <a:prstGeom prst="rect">
            <a:avLst/>
          </a:prstGeom>
          <a:solidFill>
            <a:srgbClr val="4527A0"/>
          </a:solidFill>
          <a:ln w="12700">
            <a:solidFill>
              <a:srgbClr val="4527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3" name="Text 71"/>
          <p:cNvSpPr/>
          <p:nvPr/>
        </p:nvSpPr>
        <p:spPr>
          <a:xfrm>
            <a:off x="6181344" y="270953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6492240" y="2727822"/>
            <a:ext cx="2359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Resource: egt-resumepulse-pk topic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6181344" y="3130158"/>
            <a:ext cx="256032" cy="256032"/>
          </a:xfrm>
          <a:prstGeom prst="rect">
            <a:avLst/>
          </a:prstGeom>
          <a:solidFill>
            <a:srgbClr val="4527A0"/>
          </a:solidFill>
          <a:ln w="12700">
            <a:solidFill>
              <a:srgbClr val="4527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6" name="Text 74"/>
          <p:cNvSpPr/>
          <p:nvPr/>
        </p:nvSpPr>
        <p:spPr>
          <a:xfrm>
            <a:off x="6181344" y="313015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6492240" y="3148446"/>
            <a:ext cx="2359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Filter: ResumePulse.ResumeAnalysisCompleted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6181344" y="3550782"/>
            <a:ext cx="256032" cy="256032"/>
          </a:xfrm>
          <a:prstGeom prst="rect">
            <a:avLst/>
          </a:prstGeom>
          <a:solidFill>
            <a:srgbClr val="4527A0"/>
          </a:solidFill>
          <a:ln w="12700">
            <a:solidFill>
              <a:srgbClr val="4527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9" name="Text 77"/>
          <p:cNvSpPr/>
          <p:nvPr/>
        </p:nvSpPr>
        <p:spPr>
          <a:xfrm>
            <a:off x="6181344" y="355078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6492240" y="3569070"/>
            <a:ext cx="2359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'Parse JSON' for event data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6181344" y="3971406"/>
            <a:ext cx="256032" cy="256032"/>
          </a:xfrm>
          <a:prstGeom prst="rect">
            <a:avLst/>
          </a:prstGeom>
          <a:solidFill>
            <a:srgbClr val="4527A0"/>
          </a:solidFill>
          <a:ln w="12700">
            <a:solidFill>
              <a:srgbClr val="4527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2" name="Text 80"/>
          <p:cNvSpPr/>
          <p:nvPr/>
        </p:nvSpPr>
        <p:spPr>
          <a:xfrm>
            <a:off x="6181344" y="397140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83" name="Text 81"/>
          <p:cNvSpPr/>
          <p:nvPr/>
        </p:nvSpPr>
        <p:spPr>
          <a:xfrm>
            <a:off x="6492240" y="3989694"/>
            <a:ext cx="2359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'SendGrid → Send Email V4'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6181344" y="4392030"/>
            <a:ext cx="256032" cy="256032"/>
          </a:xfrm>
          <a:prstGeom prst="rect">
            <a:avLst/>
          </a:prstGeom>
          <a:solidFill>
            <a:srgbClr val="4527A0"/>
          </a:solidFill>
          <a:ln w="12700">
            <a:solidFill>
              <a:srgbClr val="4527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5" name="Text 83"/>
          <p:cNvSpPr/>
          <p:nvPr/>
        </p:nvSpPr>
        <p:spPr>
          <a:xfrm>
            <a:off x="6181344" y="439203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86" name="Text 84"/>
          <p:cNvSpPr/>
          <p:nvPr/>
        </p:nvSpPr>
        <p:spPr>
          <a:xfrm>
            <a:off x="6492240" y="4453860"/>
            <a:ext cx="2359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To/Subject from dynamic content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6188601" y="4776369"/>
            <a:ext cx="256032" cy="256032"/>
          </a:xfrm>
          <a:prstGeom prst="rect">
            <a:avLst/>
          </a:prstGeom>
          <a:solidFill>
            <a:srgbClr val="4527A0"/>
          </a:solidFill>
          <a:ln w="12700">
            <a:solidFill>
              <a:srgbClr val="4527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8" name="Text 86"/>
          <p:cNvSpPr/>
          <p:nvPr/>
        </p:nvSpPr>
        <p:spPr>
          <a:xfrm>
            <a:off x="6188601" y="477636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89" name="Text 87"/>
          <p:cNvSpPr/>
          <p:nvPr/>
        </p:nvSpPr>
        <p:spPr>
          <a:xfrm>
            <a:off x="6492240" y="4852424"/>
            <a:ext cx="2359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VS Code Project Setup — All Scaffold &amp; NuGet Commands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274320" y="640080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command explained — from empty folder to complete project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164592" y="914400"/>
            <a:ext cx="8796528" cy="365760"/>
          </a:xfrm>
          <a:prstGeom prst="rect">
            <a:avLst/>
          </a:prstGeom>
          <a:solidFill>
            <a:srgbClr val="1B2A1B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56032" y="91440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Install VS Code Extensions first: C# Dev Kit  •  Azure Functions  •  Azure App Service  •  Azure Static Web Apps  •  REST Client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64592" y="1335024"/>
            <a:ext cx="8796528" cy="56692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74320" y="1371600"/>
            <a:ext cx="8577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9D3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mkdir ResumePulse &amp;&amp; cd ResumePulse &amp;&amp; code 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74320" y="1645920"/>
            <a:ext cx="8577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Create project folder and open in VS Code. The dot (.) means 'open this current folder'.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64592" y="1993392"/>
            <a:ext cx="8796528" cy="56692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74320" y="2029968"/>
            <a:ext cx="8577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9D3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dotnet new sln --name ResumePulse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74320" y="2304288"/>
            <a:ext cx="8577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Creates Solution file (.sln) — master file that links all projects together.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64592" y="2651760"/>
            <a:ext cx="8796528" cy="56692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274320" y="2688336"/>
            <a:ext cx="8577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9D3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dotnet new webapi --name ResumePulse.Api --framework net9.0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74320" y="2962656"/>
            <a:ext cx="8577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Creates ASP.NET Core Web API with Controllers/ and Program.cs. This is our backend.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64592" y="3310128"/>
            <a:ext cx="8796528" cy="56692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274320" y="3346704"/>
            <a:ext cx="8577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9D3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dotnet new blazorwasm --name ResumePulse.Client --framework net9.0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74320" y="3621024"/>
            <a:ext cx="8577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Creates Blazor WASM project — C# compiles to WebAssembly running in the browser.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64592" y="3968496"/>
            <a:ext cx="8796528" cy="56692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274320" y="4005072"/>
            <a:ext cx="8577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9D3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dotnet new func --name ResumePulse.Functions --worker-runtime dotnet-isolated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74320" y="4279392"/>
            <a:ext cx="8577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Creates Azure Functions project with .NET 9 Isolated Worker (separate process, better performance).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Folder Structure &amp; NuGet Package Install Commands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164592" y="694944"/>
            <a:ext cx="4663440" cy="422452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74320" y="768096"/>
            <a:ext cx="4443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ResumePulse/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1014984"/>
            <a:ext cx="4443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ResumePulse.sln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1261872"/>
            <a:ext cx="4443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6DB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ResumePulse.Api/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1508760"/>
            <a:ext cx="4443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9D3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Controllers/ResumeController.cs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74320" y="1755648"/>
            <a:ext cx="4443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9D3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Services/BlobStorageService.cs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74320" y="2002536"/>
            <a:ext cx="4443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9D3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Services/ServiceBusService.cs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74320" y="2249424"/>
            <a:ext cx="4443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Program.cs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74320" y="2496312"/>
            <a:ext cx="4443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6DB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ResumePulse.Client/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74320" y="2743200"/>
            <a:ext cx="4443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9D3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Pages/Home.razor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74320" y="2990088"/>
            <a:ext cx="4443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9D3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Services/ResumeApiService.cs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74320" y="3236976"/>
            <a:ext cx="4443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Program.cs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74320" y="3483864"/>
            <a:ext cx="4443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6DB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ResumePulse.Functions/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74320" y="3730752"/>
            <a:ext cx="4443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Functions/ResumeAnalysisFunction.cs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74320" y="3977640"/>
            <a:ext cx="4443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Services/GeminiService.cs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74320" y="4224528"/>
            <a:ext cx="4443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host.json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74320" y="4471416"/>
            <a:ext cx="4443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7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└── local.settings.json ⚠️ NEVER commit!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974336" y="694944"/>
            <a:ext cx="4005072" cy="1956816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084064" y="74980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Install API Packages: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084064" y="969264"/>
            <a:ext cx="37856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9D3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cd ResumePulse.Api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084064" y="1207008"/>
            <a:ext cx="37856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dotnet add package Azure.Storage.Blobs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084064" y="1444752"/>
            <a:ext cx="37856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dotnet add package Azure.Messaging.ServiceBus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084064" y="1682496"/>
            <a:ext cx="37856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dotnet add package Azure.Security.KeyVault.Secrets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084064" y="1920240"/>
            <a:ext cx="37856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dotnet add package Azure.Identity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084064" y="2157984"/>
            <a:ext cx="37856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dotnet add package Azure.Extensions.AspNetCore.Configuration.Secrets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974336" y="2743200"/>
            <a:ext cx="4005072" cy="217627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5084064" y="279806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Install Functions Packages: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084064" y="2999232"/>
            <a:ext cx="3785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9D3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cd ../ResumePulse.Functions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084064" y="3255264"/>
            <a:ext cx="3785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dotnet add package Microsoft.Azure.Functions.Worker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084064" y="3511296"/>
            <a:ext cx="3785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dotnet add package Microsoft.Azure.Functions.Worker.Extensions.ServiceBus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084064" y="3767328"/>
            <a:ext cx="3785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dotnet add package Azure.Storage.Blobs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084064" y="4023360"/>
            <a:ext cx="3785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dotnet add package Azure.Messaging.EventGrid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084064" y="4279392"/>
            <a:ext cx="3785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dotnet add package Google.Cloud.AIPlatform.V1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5084064" y="4535424"/>
            <a:ext cx="3785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dotnet add package UglyToad.PdfPig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🔌  Backend API — Code Explained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164592" y="694944"/>
            <a:ext cx="4407408" cy="2066544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64592" y="694944"/>
            <a:ext cx="4407408" cy="237744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74320" y="704088"/>
            <a:ext cx="4187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📄 Program.cs — Key Vault + CORS Setup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256032" y="969264"/>
            <a:ext cx="4224528" cy="1719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1. Read Key Vault URL from env variable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kvUrl = builder.Configuration["KeyVault:Url"];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2. Connect using Managed Identity (passwordless)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builder.Configuration.AddAzureKeyVault(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new Uri(kvUrl), new DefaultAzureCredential());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3. CORS — allow Blazor frontend to call API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policy.WithOrigins(swaUrl)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.AllowAnyHeader().AllowAnyMethod();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4. Register services (Dependency Injection)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builder.Services.AddScoped&lt;IBlobStorageService,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BlobStorageService&gt;();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718304" y="694944"/>
            <a:ext cx="4261104" cy="2066544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718304" y="694944"/>
            <a:ext cx="4261104" cy="237744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828032" y="704088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📄 ResumeController — Upload Endpoint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809744" y="969264"/>
            <a:ext cx="4078224" cy="1719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[HttpPost("upload")]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async Task&lt;IActionResult&gt; Upload(...){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STEP 1: Generate unique ID for this job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var jobId = Guid.NewGuid().ToString();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STEP 2: Upload PDF → Blob Storage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var blobUrl = await _blob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.UploadResumeAsync(request.ResumeFile, jobId);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STEP 3: Queue job — do NOT wait for AI!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await _bus.SendResumeAnalysisMessageAsync(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new { JobId=jobId, BlobUrl=blobUrl, ... });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STEP 4: Return immediately to user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Ok(new{JobId=jobId,Status="Queued"});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64592" y="2834640"/>
            <a:ext cx="4407408" cy="1993392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164592" y="2834640"/>
            <a:ext cx="4407408" cy="237744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274320" y="2843784"/>
            <a:ext cx="4187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📄 GET /api/resume/report/{jobId} — Polling Endpoint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56032" y="3108960"/>
            <a:ext cx="4224528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[HttpGet("report/{jobId}")]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async Task&lt;IActionResult&gt; GetReport(id){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var blob = container.GetBlobClient(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$"{jobId}/report.json");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Not ready → return 404 (normal!)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(!await blob.ExistsAsync())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NotFound(new{Status="Processing"});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Ready → download and return JSON report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var dl = await blob.DownloadContentAsync();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Ok(JsonSerializer.Deserialize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&lt;JsonElement&gt;(dl.Value.Content.ToString()));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718304" y="2834640"/>
            <a:ext cx="4261104" cy="1993392"/>
          </a:xfrm>
          <a:prstGeom prst="rect">
            <a:avLst/>
          </a:prstGeom>
          <a:solidFill>
            <a:srgbClr val="1B2A1B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846320" y="2907792"/>
            <a:ext cx="4005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Why This Pattern?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46320" y="3182112"/>
            <a:ext cx="4005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E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API returns INSTANTLY — no 30s AI wait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846320" y="3438144"/>
            <a:ext cx="4005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E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DefaultAzureCredential = same code locally + Azure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846320" y="3694176"/>
            <a:ext cx="4005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E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404 during polling = completely normal behavior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846320" y="3950208"/>
            <a:ext cx="4005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E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Report appears when Function finishes writing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846320" y="4206240"/>
            <a:ext cx="4005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E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Service Bus retries failed messages automatically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846320" y="4462272"/>
            <a:ext cx="4005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E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Key Vault secrets loaded at app startup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Azure Functions + Gemini AI — Code Explained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164592" y="694944"/>
            <a:ext cx="4407408" cy="2048256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64592" y="694944"/>
            <a:ext cx="4407408" cy="237744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74320" y="704088"/>
            <a:ext cx="4187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📄 ResumeAnalysisFunction.cs — Service Bus Trigger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256032" y="969264"/>
            <a:ext cx="4224528" cy="17007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[Function("ResumeAnalysisFunction")]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async Task Run(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Wakes up when message arrives in queue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[ServiceBusTrigger(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"resume-analysis-queue",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Connection="ServiceBusConnectionString")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 string messageBody) 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var jobId = msg.GetProperty("JobId").GetString();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var blobUrl = msg.GetProperty("BlobUrl").GetString();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Download PDF → Extract text → Analyze AI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var pdfBytes = await DownloadPdfFromBlob(blobUrl);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var text = ExtractTextFromPdf(pdfBytes);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718304" y="694944"/>
            <a:ext cx="4261104" cy="2048256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718304" y="694944"/>
            <a:ext cx="4261104" cy="237744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828032" y="704088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📄 GeminiService.cs — AI Integration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809744" y="969264"/>
            <a:ext cx="4078224" cy="17007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Force JSON output only from Gemini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config = new GenerateContentConfig 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ResponseMimeType = "application/json",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Temperature = 0.1f  // Low = consistent output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Retry logic for free tier quota limits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i = 1; i &lt;= 3; i++) 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try { /* call Gemini */ break; }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catch when (ex.Message.Contains("quota")) 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Wait: 30s → 60s → 90s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await Task.Delay(i * 30000);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64592" y="2816352"/>
            <a:ext cx="4407408" cy="201168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164592" y="2816352"/>
            <a:ext cx="4407408" cy="237744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274320" y="2825496"/>
            <a:ext cx="4187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📄 GeminiService.cs — Safe JSON Parsing (No Crashes)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56032" y="3090672"/>
            <a:ext cx="4224528" cy="1664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GetProperty → THROWS if key missing (BAD!)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TryGetProperty → returns false safely (GOOD!)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new ResumeAnalysisReport 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OverallScore = SafeGetInt(result,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"overallScore", 0),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ScoreSummary = SafeGetString(result,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"scoreSummary", "No summary"),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MatchedSkills = SafeGetStringList(result,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"matchedSkills"),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Recommendation = SafeGetString(result,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"recommendation", "Not a Match"),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718304" y="2816352"/>
            <a:ext cx="4261104" cy="2011680"/>
          </a:xfrm>
          <a:prstGeom prst="rect">
            <a:avLst/>
          </a:prstGeom>
          <a:solidFill>
            <a:srgbClr val="1A0B2E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846320" y="2889504"/>
            <a:ext cx="4005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AI Prompt Strategy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46320" y="3145536"/>
            <a:ext cx="40050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DE9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Send: Job Description + full Resume text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846320" y="3383280"/>
            <a:ext cx="40050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DE9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Request: Return JSON with score 0-100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846320" y="3621024"/>
            <a:ext cx="40050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DE9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Force: ResponseMimeType=application/json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846320" y="3858768"/>
            <a:ext cx="40050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DE9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Retry: Up to 3x on quota exceeded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846320" y="4096512"/>
            <a:ext cx="40050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DE9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Parse: TryGetProperty — never crashes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846320" y="4334256"/>
            <a:ext cx="40050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DE9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📩 Publish: Event Grid after saving report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846320" y="4572000"/>
            <a:ext cx="40050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DE9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Email: Logic App handles SendGrid send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 Blazor WASM Frontend — Code &amp; Key Concepts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0" y="621792"/>
            <a:ext cx="9144000" cy="45720"/>
          </a:xfrm>
          <a:prstGeom prst="rect">
            <a:avLst/>
          </a:prstGeom>
          <a:solidFill>
            <a:srgbClr val="4527A0"/>
          </a:solidFill>
          <a:ln w="12700">
            <a:solidFill>
              <a:srgbClr val="4527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74320" y="694944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in the browser — no JavaScript required!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01168" y="969264"/>
            <a:ext cx="8741664" cy="548640"/>
          </a:xfrm>
          <a:prstGeom prst="rect">
            <a:avLst/>
          </a:prstGeom>
          <a:solidFill>
            <a:srgbClr val="EDE9FE"/>
          </a:solidFill>
          <a:ln w="12700">
            <a:solidFill>
              <a:srgbClr val="4527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47472" y="1024128"/>
            <a:ext cx="8412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Blazor WASM compiles C# to WebAssembly that runs directly in the browser. Same .NET skills = full-stack development. No JavaScript needed.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01168" y="1609344"/>
            <a:ext cx="4187952" cy="24323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201168" y="1609344"/>
            <a:ext cx="4187952" cy="36576"/>
          </a:xfrm>
          <a:prstGeom prst="rect">
            <a:avLst/>
          </a:prstGeom>
          <a:solidFill>
            <a:srgbClr val="BF360C"/>
          </a:solidFill>
          <a:ln w="12700">
            <a:solidFill>
              <a:srgbClr val="BF360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47472" y="1682496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F3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Critical Bug &amp; Fix — File Upload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47472" y="1956816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Bug: Blazor file reference becomes null after any await call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01168" y="2194560"/>
            <a:ext cx="4187952" cy="1847088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10896" y="2267712"/>
            <a:ext cx="3931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7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❌ WRONG — crashes after await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10896" y="2441448"/>
            <a:ext cx="3931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7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bytes = file.OpenReadStream(); // NULL!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10896" y="2615184"/>
            <a:ext cx="3931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10896" y="2788920"/>
            <a:ext cx="3931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9D3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✅ FIX — read bytes immediately in OnChange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10896" y="2962656"/>
            <a:ext cx="3931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9D3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 async Task OnFileChanged(e) {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10896" y="3136392"/>
            <a:ext cx="3931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using var ms = new MemoryStream();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10896" y="3310128"/>
            <a:ext cx="3931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await e.File.OpenReadStream(10MB)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10896" y="3483864"/>
            <a:ext cx="3931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.CopyToAsync(ms);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10896" y="3657600"/>
            <a:ext cx="3931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9D3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_fileBytes = ms.ToArray(); // safe now!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10896" y="3831336"/>
            <a:ext cx="3931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9D3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553712" y="1609344"/>
            <a:ext cx="4389120" cy="24323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4553712" y="1609344"/>
            <a:ext cx="4389120" cy="36576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681728" y="1682496"/>
            <a:ext cx="4133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Polling Pattern — How UI Updates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681728" y="1956816"/>
            <a:ext cx="41330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checks every 5s if report is ready (404 = still processing, 200 = done):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53712" y="2194560"/>
            <a:ext cx="4389120" cy="1847088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4663440" y="2267712"/>
            <a:ext cx="4206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Task.Delay(12000); // wait 12s first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663440" y="2441448"/>
            <a:ext cx="4206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i = 0; i &lt; 15; i++) {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663440" y="2615184"/>
            <a:ext cx="4206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var res = await _http.GetAsync(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663440" y="2788920"/>
            <a:ext cx="4206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$"api/resume/report/{jobId}");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663440" y="2962656"/>
            <a:ext cx="4206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9D3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200 = report ready!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663440" y="3136392"/>
            <a:ext cx="4206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(res.IsSuccessStatusCode)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663440" y="3310128"/>
            <a:ext cx="4206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await res.ReadFromJsonAsync();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663440" y="3483864"/>
            <a:ext cx="4206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9D3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404 = still processing, wait 5s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663440" y="3657600"/>
            <a:ext cx="4206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await Task.Delay(5000);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663440" y="3831336"/>
            <a:ext cx="4206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201168" y="4151376"/>
            <a:ext cx="8741664" cy="768096"/>
          </a:xfrm>
          <a:prstGeom prst="rect">
            <a:avLst/>
          </a:prstGeom>
          <a:solidFill>
            <a:srgbClr val="EDE9FE"/>
          </a:solidFill>
          <a:ln w="12700">
            <a:solidFill>
              <a:srgbClr val="4527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347472" y="420624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52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UI Features: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47472" y="446227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Upload Form (email + JD + PDF)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3182112" y="446227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5-Step Animated Status Tracker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016752" y="446227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Score Display (0-100)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347472" y="470001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Recommendation Badge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3182112" y="470001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Matched Skills (green badges)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016752" y="470001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Missing Skills (red badges)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F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Deployment — Publishing Everything to Azure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0" y="621792"/>
            <a:ext cx="9144000" cy="4572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74320" y="694944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deployments: API → Azure Functions → Blazor Static Web App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64592" y="969264"/>
            <a:ext cx="2834640" cy="4187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164592" y="969264"/>
            <a:ext cx="2834640" cy="3657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56032" y="104241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1. Deploy API to App Service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6032" y="1389888"/>
            <a:ext cx="2651760" cy="493776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10896" y="1463040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9D3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cd ResumePulse.Api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56032" y="1993392"/>
            <a:ext cx="2651760" cy="493776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10896" y="2066544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9D3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dotnet publish -c Release -o ./publish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56032" y="2596896"/>
            <a:ext cx="2651760" cy="493776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10896" y="2670048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9D3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cd publish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56032" y="3200400"/>
            <a:ext cx="2651760" cy="493776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10896" y="3273552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9D3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tar -a -c -f ../api.zip *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56032" y="3803904"/>
            <a:ext cx="2651760" cy="493776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310896" y="3877056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9D3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az webapp deploy --name app-resumepulse-pk --src-path api.zip --type zip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56032" y="4407408"/>
            <a:ext cx="2651760" cy="493776"/>
          </a:xfrm>
          <a:prstGeom prst="rect">
            <a:avLst/>
          </a:prstGeom>
          <a:solidFill>
            <a:srgbClr val="F8FF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310896" y="4480560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curl .../api/resume/health → {status:'Healthy'}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163824" y="969264"/>
            <a:ext cx="2834640" cy="4187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3163824" y="969264"/>
            <a:ext cx="2834640" cy="36576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3255264" y="104241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2. Deploy Azure Functions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55264" y="1389888"/>
            <a:ext cx="2651760" cy="493776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3310128" y="1463040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9D3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cd ResumePulse.Functions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255264" y="1993392"/>
            <a:ext cx="2651760" cy="493776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3310128" y="2066544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9D3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rmdir /s /q bin obj  (clean first!)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255264" y="2596896"/>
            <a:ext cx="2651760" cy="493776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3310128" y="2670048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9D3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dotnet publish -c Release -o ./publish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255264" y="3200400"/>
            <a:ext cx="2651760" cy="493776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3310128" y="3273552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9D3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cd publish &amp;&amp; tar -a -c -f ../func.zip *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255264" y="3803904"/>
            <a:ext cx="2651760" cy="493776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3310128" y="3877056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9D3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az functionapp deployment source config-zip --name func-resumepulse-pk --src func.zip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255264" y="4407408"/>
            <a:ext cx="2651760" cy="493776"/>
          </a:xfrm>
          <a:prstGeom prst="rect">
            <a:avLst/>
          </a:prstGeom>
          <a:solidFill>
            <a:srgbClr val="F8FF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3310128" y="4480560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Verify: az functionapp function list ...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163056" y="969264"/>
            <a:ext cx="2816352" cy="4187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6163056" y="969264"/>
            <a:ext cx="2816352" cy="36576"/>
          </a:xfrm>
          <a:prstGeom prst="rect">
            <a:avLst/>
          </a:prstGeom>
          <a:solidFill>
            <a:srgbClr val="4527A0"/>
          </a:solidFill>
          <a:ln w="12700">
            <a:solidFill>
              <a:srgbClr val="4527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6254496" y="1042416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52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3. Deploy Blazor to Static Web App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254496" y="1389888"/>
            <a:ext cx="2633472" cy="493776"/>
          </a:xfrm>
          <a:prstGeom prst="rect">
            <a:avLst/>
          </a:prstGeom>
          <a:solidFill>
            <a:srgbClr val="F8FF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6309360" y="1463040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Program.cs with Azure API URL first!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6254496" y="1993392"/>
            <a:ext cx="2633472" cy="493776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6309360" y="2066544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9D3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cd ResumePulse.Client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6254496" y="2596896"/>
            <a:ext cx="2633472" cy="493776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6309360" y="2670048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9D3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rmdir /s /q publish bin obj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254496" y="3200400"/>
            <a:ext cx="2633472" cy="493776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6309360" y="3273552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9D3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dotnet publish -c Release -o ./publish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6254496" y="3803904"/>
            <a:ext cx="2633472" cy="493776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6309360" y="3877056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9D3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npm install -g @azure/static-web-apps-cli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6254496" y="4407408"/>
            <a:ext cx="2633472" cy="493776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6309360" y="4480560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9D3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swa deploy ./publish/wwwroot --deployment-token TOKEN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Post-Deployment Checklist &amp; Verification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0" y="621792"/>
            <a:ext cx="9144000" cy="45720"/>
          </a:xfrm>
          <a:prstGeom prst="rect">
            <a:avLst/>
          </a:prstGeom>
          <a:solidFill>
            <a:srgbClr val="BF360C"/>
          </a:solidFill>
          <a:ln w="12700">
            <a:solidFill>
              <a:srgbClr val="BF360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74320" y="694944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every service before the live demo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01168" y="987552"/>
            <a:ext cx="8741664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01168" y="987552"/>
            <a:ext cx="64008" cy="5303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10896" y="10789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</a:rPr>
              <a:t>🌐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31520" y="106070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Health Check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331720" y="1042416"/>
            <a:ext cx="4937760" cy="402336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432304" y="1078992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9D3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curl https://app-resumepulse-pk.azurewebsites.net/api/resume/health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7388352" y="1042416"/>
            <a:ext cx="1463040" cy="402336"/>
          </a:xfrm>
          <a:prstGeom prst="rect">
            <a:avLst/>
          </a:prstGeom>
          <a:solidFill>
            <a:srgbClr val="DCFCE7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7424928" y="1078992"/>
            <a:ext cx="13898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{status:'Healthy'}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01168" y="1627632"/>
            <a:ext cx="8741664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201168" y="1627632"/>
            <a:ext cx="64008" cy="530352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10896" y="17190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</a:rPr>
              <a:t>⚡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731520" y="170078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Deployed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331720" y="1682496"/>
            <a:ext cx="4937760" cy="402336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2432304" y="1719072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9D3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az functionapp function list --name func-resumepulse-pk --query [].name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7388352" y="1682496"/>
            <a:ext cx="1463040" cy="402336"/>
          </a:xfrm>
          <a:prstGeom prst="rect">
            <a:avLst/>
          </a:prstGeom>
          <a:solidFill>
            <a:srgbClr val="DCFCE7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7424928" y="1719072"/>
            <a:ext cx="13898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ResumeAnalysisFunction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01168" y="2267712"/>
            <a:ext cx="8741664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201168" y="2267712"/>
            <a:ext cx="64008" cy="530352"/>
          </a:xfrm>
          <a:prstGeom prst="rect">
            <a:avLst/>
          </a:prstGeom>
          <a:solidFill>
            <a:srgbClr val="BF360C"/>
          </a:solidFill>
          <a:ln w="12700">
            <a:solidFill>
              <a:srgbClr val="BF360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310896" y="23591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</a:rPr>
              <a:t>🔑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731520" y="234086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F3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Vault Secrets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331720" y="2322576"/>
            <a:ext cx="4937760" cy="402336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432304" y="2359152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9D3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az keyvault secret list --vault-name kv-resumepulse-pk --query [].name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7388352" y="2322576"/>
            <a:ext cx="1463040" cy="402336"/>
          </a:xfrm>
          <a:prstGeom prst="rect">
            <a:avLst/>
          </a:prstGeom>
          <a:solidFill>
            <a:srgbClr val="DCFCE7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7424928" y="2359152"/>
            <a:ext cx="13898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All 4 secrets listed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01168" y="2907792"/>
            <a:ext cx="8741664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201168" y="2907792"/>
            <a:ext cx="64008" cy="530352"/>
          </a:xfrm>
          <a:prstGeom prst="rect">
            <a:avLst/>
          </a:prstGeom>
          <a:solidFill>
            <a:srgbClr val="4527A0"/>
          </a:solidFill>
          <a:ln w="12700">
            <a:solidFill>
              <a:srgbClr val="4527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10896" y="29992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</a:rPr>
              <a:t>📨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731520" y="298094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52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Bus Queue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331720" y="2962656"/>
            <a:ext cx="4937760" cy="402336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2432304" y="2999232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9D3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az servicebus queue show --name resume-analysis-queue --query countDetails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7388352" y="2962656"/>
            <a:ext cx="1463040" cy="402336"/>
          </a:xfrm>
          <a:prstGeom prst="rect">
            <a:avLst/>
          </a:prstGeom>
          <a:solidFill>
            <a:srgbClr val="DCFCE7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7424928" y="2999232"/>
            <a:ext cx="13898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ActiveMessageCount: 0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201168" y="3547872"/>
            <a:ext cx="8741664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201168" y="3547872"/>
            <a:ext cx="64008" cy="53035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310896" y="36393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</a:rPr>
              <a:t>🌍</a:t>
            </a:r>
            <a:endParaRPr lang="en-US" sz="1700" dirty="0"/>
          </a:p>
        </p:txBody>
      </p:sp>
      <p:sp>
        <p:nvSpPr>
          <p:cNvPr id="41" name="Text 39"/>
          <p:cNvSpPr/>
          <p:nvPr/>
        </p:nvSpPr>
        <p:spPr>
          <a:xfrm>
            <a:off x="731520" y="362102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Web App URL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2331720" y="3602736"/>
            <a:ext cx="4937760" cy="402336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2432304" y="3639312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9D3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az staticwebapp show --name swa-resumepulse-pk --query defaultHostname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7388352" y="3602736"/>
            <a:ext cx="1463040" cy="402336"/>
          </a:xfrm>
          <a:prstGeom prst="rect">
            <a:avLst/>
          </a:prstGeom>
          <a:solidFill>
            <a:srgbClr val="DCFCE7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7424928" y="3639312"/>
            <a:ext cx="13898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xxx.azurestaticapps.net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201168" y="4187952"/>
            <a:ext cx="8741664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7" name="Shape 45"/>
          <p:cNvSpPr/>
          <p:nvPr/>
        </p:nvSpPr>
        <p:spPr>
          <a:xfrm>
            <a:off x="201168" y="4187952"/>
            <a:ext cx="64008" cy="530352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310896" y="42793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</a:rPr>
              <a:t>🔗</a:t>
            </a:r>
            <a:endParaRPr lang="en-US" sz="1700" dirty="0"/>
          </a:p>
        </p:txBody>
      </p:sp>
      <p:sp>
        <p:nvSpPr>
          <p:cNvPr id="49" name="Text 47"/>
          <p:cNvSpPr/>
          <p:nvPr/>
        </p:nvSpPr>
        <p:spPr>
          <a:xfrm>
            <a:off x="731520" y="426110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Updated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2331720" y="4242816"/>
            <a:ext cx="4937760" cy="402336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2432304" y="4279392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9D3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Updated Program.cs with SWA URL → redeploy API → frontend can call API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7388352" y="4242816"/>
            <a:ext cx="1463040" cy="402336"/>
          </a:xfrm>
          <a:prstGeom prst="rect">
            <a:avLst/>
          </a:prstGeom>
          <a:solidFill>
            <a:srgbClr val="DCFCE7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7424928" y="4279392"/>
            <a:ext cx="13898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No CORS errors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A0F1E"/>
          </a:solidFill>
          <a:ln w="12700">
            <a:solidFill>
              <a:srgbClr val="0A0F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Live Demo — End-to-End Flow on Azure Cloud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64592" y="749808"/>
            <a:ext cx="2834640" cy="1828800"/>
          </a:xfrm>
          <a:prstGeom prst="rect">
            <a:avLst/>
          </a:prstGeom>
          <a:solidFill>
            <a:srgbClr val="0D1B2A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64592" y="749808"/>
            <a:ext cx="347472" cy="182880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64592" y="1316736"/>
            <a:ext cx="347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85216" y="804672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Live URL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85216" y="1097280"/>
            <a:ext cx="234086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https://swa-url.azurestaticapps.net in browser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85216" y="1810512"/>
            <a:ext cx="2340864" cy="530352"/>
          </a:xfrm>
          <a:prstGeom prst="rect">
            <a:avLst/>
          </a:prstGeom>
          <a:solidFill>
            <a:srgbClr val="0A1628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40080" y="1865376"/>
            <a:ext cx="22311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Blazor loading from Azure CDN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127248" y="749808"/>
            <a:ext cx="2834640" cy="1828800"/>
          </a:xfrm>
          <a:prstGeom prst="rect">
            <a:avLst/>
          </a:prstGeom>
          <a:solidFill>
            <a:srgbClr val="0D1B2A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3127248" y="749808"/>
            <a:ext cx="347472" cy="18288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127248" y="1316736"/>
            <a:ext cx="347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547872" y="804672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the Form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547872" y="1097280"/>
            <a:ext cx="234086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real email, paste Web Developer job description, upload PDF resume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547872" y="1810512"/>
            <a:ext cx="2340864" cy="530352"/>
          </a:xfrm>
          <a:prstGeom prst="rect">
            <a:avLst/>
          </a:prstGeom>
          <a:solidFill>
            <a:srgbClr val="0A1628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602736" y="1865376"/>
            <a:ext cx="22311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Upload form with all 3 fields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089904" y="749808"/>
            <a:ext cx="2834640" cy="1828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6089904" y="749808"/>
            <a:ext cx="347472" cy="182880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089904" y="1316736"/>
            <a:ext cx="347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510528" y="804672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&amp; Analyze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510528" y="1097280"/>
            <a:ext cx="234086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'Analyze My Resume' — watch status tracker animate through 5 steps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510528" y="1810512"/>
            <a:ext cx="2340864" cy="530352"/>
          </a:xfrm>
          <a:prstGeom prst="rect">
            <a:avLst/>
          </a:prstGeom>
          <a:solidFill>
            <a:srgbClr val="0A1628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6565392" y="1865376"/>
            <a:ext cx="22311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5-step progress tracker live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64592" y="2834640"/>
            <a:ext cx="2834640" cy="1828800"/>
          </a:xfrm>
          <a:prstGeom prst="rect">
            <a:avLst/>
          </a:prstGeom>
          <a:solidFill>
            <a:srgbClr val="0D1B2A"/>
          </a:solidFill>
          <a:ln w="12700">
            <a:solidFill>
              <a:srgbClr val="BF360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164592" y="2834640"/>
            <a:ext cx="347472" cy="1828800"/>
          </a:xfrm>
          <a:prstGeom prst="rect">
            <a:avLst/>
          </a:prstGeom>
          <a:solidFill>
            <a:srgbClr val="BF360C"/>
          </a:solidFill>
          <a:ln w="12700">
            <a:solidFill>
              <a:srgbClr val="BF360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164592" y="3401568"/>
            <a:ext cx="347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85216" y="2889504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F3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Azure Logs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85216" y="3182112"/>
            <a:ext cx="234086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 Azure Portal → Function App → Monitoring → Log stream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85216" y="3895344"/>
            <a:ext cx="2340864" cy="530352"/>
          </a:xfrm>
          <a:prstGeom prst="rect">
            <a:avLst/>
          </a:prstGeom>
          <a:solidFill>
            <a:srgbClr val="0A1628"/>
          </a:solidFill>
          <a:ln w="12700">
            <a:solidFill>
              <a:srgbClr val="BF360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640080" y="3950208"/>
            <a:ext cx="22311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'Analysis complete. Score: 85'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127248" y="2834640"/>
            <a:ext cx="2834640" cy="1828800"/>
          </a:xfrm>
          <a:prstGeom prst="rect">
            <a:avLst/>
          </a:prstGeom>
          <a:solidFill>
            <a:srgbClr val="0D1B2A"/>
          </a:solidFill>
          <a:ln w="12700">
            <a:solidFill>
              <a:srgbClr val="4527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3127248" y="2834640"/>
            <a:ext cx="347472" cy="1828800"/>
          </a:xfrm>
          <a:prstGeom prst="rect">
            <a:avLst/>
          </a:prstGeom>
          <a:solidFill>
            <a:srgbClr val="4527A0"/>
          </a:solidFill>
          <a:ln w="12700">
            <a:solidFill>
              <a:srgbClr val="4527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3127248" y="3401568"/>
            <a:ext cx="347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3547872" y="2889504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52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Results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547872" y="3182112"/>
            <a:ext cx="234086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to Blazor UI — score card, recommendation badge, matched/missing skills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547872" y="3895344"/>
            <a:ext cx="2340864" cy="530352"/>
          </a:xfrm>
          <a:prstGeom prst="rect">
            <a:avLst/>
          </a:prstGeom>
          <a:solidFill>
            <a:srgbClr val="0A1628"/>
          </a:solidFill>
          <a:ln w="12700">
            <a:solidFill>
              <a:srgbClr val="4527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3602736" y="3950208"/>
            <a:ext cx="22311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Score + skills + recommendation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089904" y="2834640"/>
            <a:ext cx="2834640" cy="1828800"/>
          </a:xfrm>
          <a:prstGeom prst="rect">
            <a:avLst/>
          </a:prstGeom>
          <a:solidFill>
            <a:srgbClr val="0D1B2A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6089904" y="2834640"/>
            <a:ext cx="347472" cy="1828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6089904" y="3401568"/>
            <a:ext cx="347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6510528" y="2889504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Email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510528" y="3182112"/>
            <a:ext cx="234086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email inbox — show the SendGrid notification email that arrived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510528" y="3895344"/>
            <a:ext cx="2340864" cy="530352"/>
          </a:xfrm>
          <a:prstGeom prst="rect">
            <a:avLst/>
          </a:prstGeom>
          <a:solidFill>
            <a:srgbClr val="0A1628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6565392" y="3950208"/>
            <a:ext cx="22311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Full report delivered by email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A0F1E"/>
          </a:solidFill>
          <a:ln w="12700">
            <a:solidFill>
              <a:srgbClr val="0A0F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 This entire flow runs on Azure cloud — no localhost, no local servers — 100% Free Tier!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What You Learned Today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0" y="621792"/>
            <a:ext cx="9144000" cy="457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74320" y="694944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cloud engineering skill set — built on Azure Free Tier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01168" y="987552"/>
            <a:ext cx="2798064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01168" y="987552"/>
            <a:ext cx="2798064" cy="3657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10896" y="1078992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  Cloud Architecture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10896" y="1408176"/>
            <a:ext cx="25786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Event-driven design pattern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10896" y="1792224"/>
            <a:ext cx="25786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Async processing with queues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10896" y="2176272"/>
            <a:ext cx="25786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Microservices with loose coupling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145536" y="987552"/>
            <a:ext cx="2798064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3145536" y="987552"/>
            <a:ext cx="2798064" cy="36576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255264" y="1078992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  9 Azure Services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55264" y="1408176"/>
            <a:ext cx="25786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Blob, Bus, Key Vault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55264" y="1792224"/>
            <a:ext cx="25786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App Service + Plan, Functions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55264" y="2176272"/>
            <a:ext cx="25786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Event Grid, Logic Apps, SWA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089904" y="987552"/>
            <a:ext cx="2798064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6089904" y="987552"/>
            <a:ext cx="2798064" cy="36576"/>
          </a:xfrm>
          <a:prstGeom prst="rect">
            <a:avLst/>
          </a:prstGeom>
          <a:solidFill>
            <a:srgbClr val="BF360C"/>
          </a:solidFill>
          <a:ln w="12700">
            <a:solidFill>
              <a:srgbClr val="BF360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199632" y="1078992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F3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Security Best Practices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199632" y="1408176"/>
            <a:ext cx="25786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Key Vault for ALL secrets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199632" y="1792224"/>
            <a:ext cx="25786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Managed Identity (passwordless)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199632" y="2176272"/>
            <a:ext cx="25786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RBAC role assignments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01168" y="2871216"/>
            <a:ext cx="2798064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201168" y="2871216"/>
            <a:ext cx="2798064" cy="36576"/>
          </a:xfrm>
          <a:prstGeom prst="rect">
            <a:avLst/>
          </a:prstGeom>
          <a:solidFill>
            <a:srgbClr val="4527A0"/>
          </a:solidFill>
          <a:ln w="12700">
            <a:solidFill>
              <a:srgbClr val="4527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310896" y="2962656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52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Code &amp; Development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10896" y="3291840"/>
            <a:ext cx="25786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.NET 9 API + Blazor WASM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10896" y="3675888"/>
            <a:ext cx="25786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Azure Functions isolated worker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10896" y="4059936"/>
            <a:ext cx="25786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AI integration with Gemini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145536" y="2871216"/>
            <a:ext cx="2798064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3145536" y="2871216"/>
            <a:ext cx="2798064" cy="36576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255264" y="2962656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Deployment Skills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255264" y="3291840"/>
            <a:ext cx="25786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CLI zip deploy to App Service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255264" y="3675888"/>
            <a:ext cx="25786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Function zip deployment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255264" y="4059936"/>
            <a:ext cx="25786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Static Web App SWA CLI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089904" y="2871216"/>
            <a:ext cx="2798064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6089904" y="2871216"/>
            <a:ext cx="2798064" cy="36576"/>
          </a:xfrm>
          <a:prstGeom prst="rect">
            <a:avLst/>
          </a:prstGeom>
          <a:solidFill>
            <a:srgbClr val="BF360C"/>
          </a:solidFill>
          <a:ln w="12700">
            <a:solidFill>
              <a:srgbClr val="BF360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6199632" y="2962656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F3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🐛  Real-World Bug Fixes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199632" y="3291840"/>
            <a:ext cx="25786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Blazor file upload null fix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199632" y="3675888"/>
            <a:ext cx="25786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Gemini quota retry logic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199632" y="4059936"/>
            <a:ext cx="25786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Safe JSON TryGetProperty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181344" y="0"/>
            <a:ext cx="36576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20040" y="274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000000"/>
                </a:solidFill>
              </a:rPr>
              <a:t>🎓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20040" y="347472"/>
            <a:ext cx="5669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320040" y="1170432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ResumePulse — AI Resume Analyzer on Azure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" y="1627632"/>
            <a:ext cx="5669280" cy="3657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20040" y="1737360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completely on Azure Free Tier: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" y="202996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.NET 9 + Blazor WASM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154680" y="202996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  9 Azure Services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0040" y="2414016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Google Gemini AI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154680" y="2414016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Fully Deployed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0040" y="2907792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Call to Action: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0040" y="3200400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👍  Like &amp; share this video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20040" y="3547872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Comment what to build next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20040" y="3895344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Follow for more Azure content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20040" y="4242816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Source code link in description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355080" y="4572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This Guide Covers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55080" y="78638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20 Professional Slides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355080" y="1280160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9 Azure Services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355080" y="1773936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40+ CLI Commands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355080" y="2267712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Azure Portal Steps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355080" y="2761488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All Code Explained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355080" y="325526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Architecture Diagrams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355080" y="3749040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Live Demo Script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355080" y="4242816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Filming &amp; SEO Tips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0A0F1E"/>
          </a:solidFill>
          <a:ln w="12700">
            <a:solidFill>
              <a:srgbClr val="0A0F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ResumePulse  •  Pravin Kshirsagar  •  Azure &amp; .NET Developer  • 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</TotalTime>
  <Words>4227</Words>
  <Application>Microsoft Office PowerPoint</Application>
  <PresentationFormat>On-screen Show (16:9)</PresentationFormat>
  <Paragraphs>635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ResumePulse — AI Resume Analyzer on Azure</dc:title>
  <dc:subject>PptxGenJS Presentation</dc:subject>
  <dc:creator>Pravin Kshirsagar</dc:creator>
  <cp:lastModifiedBy>Pravin Kshirsagar</cp:lastModifiedBy>
  <cp:revision>2</cp:revision>
  <dcterms:created xsi:type="dcterms:W3CDTF">2026-03-17T06:43:01Z</dcterms:created>
  <dcterms:modified xsi:type="dcterms:W3CDTF">2026-03-17T10:03:17Z</dcterms:modified>
</cp:coreProperties>
</file>